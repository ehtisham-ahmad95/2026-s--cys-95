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6" d="100"/>
          <a:sy n="96" d="100"/>
        </p:scale>
        <p:origin x="106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769888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1B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3657600" cy="3657600"/>
          </a:xfrm>
          <a:prstGeom prst="ellipse">
            <a:avLst/>
          </a:prstGeom>
          <a:solidFill>
            <a:srgbClr val="028090">
              <a:alpha val="25000"/>
            </a:srgbClr>
          </a:solidFill>
          <a:ln w="12700">
            <a:solidFill>
              <a:srgbClr val="028090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3200400"/>
            <a:ext cx="2286000" cy="2286000"/>
          </a:xfrm>
          <a:prstGeom prst="ellipse">
            <a:avLst/>
          </a:prstGeom>
          <a:solidFill>
            <a:srgbClr val="02C39A">
              <a:alpha val="20000"/>
            </a:srgbClr>
          </a:solidFill>
          <a:ln w="12700">
            <a:solidFill>
              <a:srgbClr val="02C39A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34440"/>
            <a:ext cx="731520" cy="2286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82980" y="987552"/>
            <a:ext cx="228600" cy="71323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45920" y="811899"/>
            <a:ext cx="6400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MedCore</a:t>
            </a: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System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1645920" y="16916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Management Platform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1645920" y="2240280"/>
            <a:ext cx="5212080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45920" y="2377440"/>
            <a:ext cx="5956874" cy="17521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0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Python + PyQt5 desktop solution for patient management,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D0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appointments, billing, and clinical analytics.</a:t>
            </a:r>
          </a:p>
          <a:p>
            <a:pPr marL="0" indent="0">
              <a:buNone/>
            </a:pPr>
            <a:endParaRPr lang="en-US" sz="1600" dirty="0">
              <a:solidFill>
                <a:srgbClr val="D0EEF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1600" dirty="0">
              <a:solidFill>
                <a:srgbClr val="D0EEF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1600" dirty="0">
              <a:solidFill>
                <a:srgbClr val="D0EEF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6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EHTISHAM AHMED.</a:t>
            </a:r>
          </a:p>
          <a:p>
            <a:pPr marL="0" indent="0">
              <a:buNone/>
            </a:pP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645920" y="438912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7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with: Python 3  •  PyQt5  •  SQLite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21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Overview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65760" y="1097280"/>
            <a:ext cx="4114800" cy="16002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  <a:effectLst>
            <a:outerShdw blurRad="101600" dist="381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126187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🏥  Single-File App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1664208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21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application in one main.py file — easy to deploy and run.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663440" y="1097280"/>
            <a:ext cx="4114800" cy="16002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  <a:effectLst>
            <a:outerShdw blurRad="101600" dist="381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0" y="126187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  SQLite Database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846320" y="1664208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21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database (medical_system.db) stores all data with no server required.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2926080"/>
            <a:ext cx="4114800" cy="16002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  <a:effectLst>
            <a:outerShdw blurRad="101600" dist="381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309067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Secure Login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48640" y="3493008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21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password hashing with Register &amp; Login dialogs.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663440" y="2926080"/>
            <a:ext cx="4114800" cy="16002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  <a:effectLst>
            <a:outerShdw blurRad="101600" dist="381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0" y="309067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  PyQt5 GUI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846320" y="3493008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21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desktop UI with sidebar navigation and stacked pages.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 dir="r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21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Schema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7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tables stored in SQLite — medical_system.db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298448"/>
            <a:ext cx="841248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D0EE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38988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514600" y="1389888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21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username, email, password, role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828800"/>
            <a:ext cx="8412480" cy="493776"/>
          </a:xfrm>
          <a:prstGeom prst="rect">
            <a:avLst/>
          </a:prstGeom>
          <a:solidFill>
            <a:srgbClr val="E8F4F6"/>
          </a:solidFill>
          <a:ln w="6350">
            <a:solidFill>
              <a:srgbClr val="D0EE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9202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514600" y="1920240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21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name, email, phone, age, gender, address, medical_history, disease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2359152"/>
            <a:ext cx="841248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D0EE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45059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514600" y="2450592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21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name, specialty, phone, email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2889504"/>
            <a:ext cx="8412480" cy="493776"/>
          </a:xfrm>
          <a:prstGeom prst="rect">
            <a:avLst/>
          </a:prstGeom>
          <a:solidFill>
            <a:srgbClr val="E8F4F6"/>
          </a:solidFill>
          <a:ln w="6350">
            <a:solidFill>
              <a:srgbClr val="D0EEF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980944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514600" y="2980944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21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patient_id, doctor, appointment_date, status, notes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3419856"/>
            <a:ext cx="841248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D0EE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511296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514600" y="3511296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21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patient_id, amount, description, bill_date, paid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8412480" cy="493776"/>
          </a:xfrm>
          <a:prstGeom prst="rect">
            <a:avLst/>
          </a:prstGeom>
          <a:solidFill>
            <a:srgbClr val="E8F4F6"/>
          </a:solidFill>
          <a:ln w="6350">
            <a:solidFill>
              <a:srgbClr val="D0EEF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404164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514600" y="4041648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21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patient_id, symptoms, recommendation, analysis_date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21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Login &amp; Authentication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11480" y="1078992"/>
            <a:ext cx="292608" cy="29260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069848"/>
            <a:ext cx="292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22960" y="106070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1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Username &amp; Password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131673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7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 validation against the users table.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" y="1828800"/>
            <a:ext cx="292608" cy="29260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819656"/>
            <a:ext cx="292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18105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1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Hashing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206654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7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Passwords stored as secure hashes — never plain text.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11480" y="2578608"/>
            <a:ext cx="292608" cy="29260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569464"/>
            <a:ext cx="292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5603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1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New User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22960" y="281635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7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dialog to create accounts with email.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11480" y="3328416"/>
            <a:ext cx="292608" cy="29260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3319272"/>
            <a:ext cx="292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22960" y="331012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1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Support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22960" y="356616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7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roles: admin, doctor, staff — used for access control.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11480" y="4078224"/>
            <a:ext cx="292608" cy="29260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4069080"/>
            <a:ext cx="292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22960" y="405993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1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Me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22960" y="431596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7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Checkbox UI element for session preferences.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120640" y="822960"/>
            <a:ext cx="3657600" cy="3749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/>
          <a:effectLst>
            <a:outerShdw blurRad="177800" dist="508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257800" y="100584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🔐 MedCore Login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349240" y="160020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1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Username: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349240" y="1865376"/>
            <a:ext cx="3200400" cy="347472"/>
          </a:xfrm>
          <a:prstGeom prst="roundRect">
            <a:avLst>
              <a:gd name="adj" fmla="val 15789"/>
            </a:avLst>
          </a:prstGeom>
          <a:solidFill>
            <a:srgbClr val="E8F4F6"/>
          </a:solidFill>
          <a:ln w="12700">
            <a:solidFill>
              <a:srgbClr val="D0EEF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49240" y="237744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1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Password: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349240" y="2642616"/>
            <a:ext cx="3200400" cy="347472"/>
          </a:xfrm>
          <a:prstGeom prst="roundRect">
            <a:avLst>
              <a:gd name="adj" fmla="val 15789"/>
            </a:avLst>
          </a:prstGeom>
          <a:solidFill>
            <a:srgbClr val="E8F4F6"/>
          </a:solidFill>
          <a:ln w="12700">
            <a:solidFill>
              <a:srgbClr val="D0EE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349240" y="3337560"/>
            <a:ext cx="1417320" cy="402336"/>
          </a:xfrm>
          <a:prstGeom prst="roundRect">
            <a:avLst>
              <a:gd name="adj" fmla="val 18182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49240" y="3337560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858000" y="3337560"/>
            <a:ext cx="1417320" cy="402336"/>
          </a:xfrm>
          <a:prstGeom prst="roundRect">
            <a:avLst>
              <a:gd name="adj" fmla="val 18182"/>
            </a:avLst>
          </a:prstGeom>
          <a:solidFill>
            <a:srgbClr val="E8F4F6"/>
          </a:solidFill>
          <a:ln w="12700">
            <a:solidFill>
              <a:srgbClr val="D0EEF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58000" y="3337560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A7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 dir="r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21B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Modules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4114800" cy="1097280"/>
          </a:xfrm>
          <a:prstGeom prst="roundRect">
            <a:avLst>
              <a:gd name="adj" fmla="val 6667"/>
            </a:avLst>
          </a:prstGeom>
          <a:solidFill>
            <a:srgbClr val="028090">
              <a:alpha val="12000"/>
            </a:srgbClr>
          </a:solidFill>
          <a:ln w="9525">
            <a:solidFill>
              <a:srgbClr val="00A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097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51560" y="107899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Management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51560" y="1444752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0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Add, search, and delete patients. Stores disease/condition info alongside demographics.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663440" y="1005840"/>
            <a:ext cx="4114800" cy="1097280"/>
          </a:xfrm>
          <a:prstGeom prst="roundRect">
            <a:avLst>
              <a:gd name="adj" fmla="val 6667"/>
            </a:avLst>
          </a:prstGeom>
          <a:solidFill>
            <a:srgbClr val="028090">
              <a:alpha val="12000"/>
            </a:srgbClr>
          </a:solidFill>
          <a:ln w="9525">
            <a:solidFill>
              <a:srgbClr val="00A8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00600" y="1097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349240" y="107899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 Scheduling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349240" y="1444752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0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appointments by patient and doctor. Mark as complete. View today's schedule on dashboard.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194560"/>
            <a:ext cx="4114800" cy="1097280"/>
          </a:xfrm>
          <a:prstGeom prst="roundRect">
            <a:avLst>
              <a:gd name="adj" fmla="val 6667"/>
            </a:avLst>
          </a:prstGeom>
          <a:solidFill>
            <a:srgbClr val="028090">
              <a:alpha val="12000"/>
            </a:srgbClr>
          </a:solidFill>
          <a:ln w="9525">
            <a:solidFill>
              <a:srgbClr val="00A89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286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051560" y="226771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&amp; Payments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51560" y="2633472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0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bills, search by patient, process payments with paid/unpaid status tracking.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63440" y="2194560"/>
            <a:ext cx="4114800" cy="1097280"/>
          </a:xfrm>
          <a:prstGeom prst="roundRect">
            <a:avLst>
              <a:gd name="adj" fmla="val 6667"/>
            </a:avLst>
          </a:prstGeom>
          <a:solidFill>
            <a:srgbClr val="028090">
              <a:alpha val="12000"/>
            </a:srgbClr>
          </a:solidFill>
          <a:ln w="9525">
            <a:solidFill>
              <a:srgbClr val="00A89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0600" y="2286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349240" y="226771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 Analyzer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349240" y="2633472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0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Checkbox-based symptom selector recommends the right specialist and finds matching doctors.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3383280"/>
            <a:ext cx="4114800" cy="1097280"/>
          </a:xfrm>
          <a:prstGeom prst="roundRect">
            <a:avLst>
              <a:gd name="adj" fmla="val 6667"/>
            </a:avLst>
          </a:prstGeom>
          <a:solidFill>
            <a:srgbClr val="028090">
              <a:alpha val="12000"/>
            </a:srgbClr>
          </a:solidFill>
          <a:ln w="9525">
            <a:solidFill>
              <a:srgbClr val="00A89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474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051560" y="345643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Settings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51560" y="3822192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0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system users (roles: admin/doctor/staff), manage doctors, and backup the database.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663440" y="3383280"/>
            <a:ext cx="4114800" cy="1097280"/>
          </a:xfrm>
          <a:prstGeom prst="roundRect">
            <a:avLst>
              <a:gd name="adj" fmla="val 6667"/>
            </a:avLst>
          </a:prstGeom>
          <a:solidFill>
            <a:srgbClr val="028090">
              <a:alpha val="12000"/>
            </a:srgbClr>
          </a:solidFill>
          <a:ln w="9525">
            <a:solidFill>
              <a:srgbClr val="00A89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00600" y="3474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5349240" y="345643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349240" y="3822192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0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stats: total patients, today's appointments, pending bills, and upcoming schedule table.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 dir="r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21B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Symptom Analyzer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engine maps symptoms → specialist + matches doctors from the database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129844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Tracked Symptoms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1755648"/>
            <a:ext cx="3566160" cy="402336"/>
          </a:xfrm>
          <a:prstGeom prst="roundRect">
            <a:avLst>
              <a:gd name="adj" fmla="val 13636"/>
            </a:avLst>
          </a:prstGeom>
          <a:solidFill>
            <a:srgbClr val="028090">
              <a:alpha val="20000"/>
            </a:srgbClr>
          </a:solidFill>
          <a:ln w="6350">
            <a:solidFill>
              <a:srgbClr val="00A8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755648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🌡️ Fever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2231136"/>
            <a:ext cx="3566160" cy="402336"/>
          </a:xfrm>
          <a:prstGeom prst="roundRect">
            <a:avLst>
              <a:gd name="adj" fmla="val 13636"/>
            </a:avLst>
          </a:prstGeom>
          <a:solidFill>
            <a:srgbClr val="028090">
              <a:alpha val="20000"/>
            </a:srgbClr>
          </a:solidFill>
          <a:ln w="6350">
            <a:solidFill>
              <a:srgbClr val="00A8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231136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😮‍💨 Cough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2706624"/>
            <a:ext cx="3566160" cy="402336"/>
          </a:xfrm>
          <a:prstGeom prst="roundRect">
            <a:avLst>
              <a:gd name="adj" fmla="val 13636"/>
            </a:avLst>
          </a:prstGeom>
          <a:solidFill>
            <a:srgbClr val="028090">
              <a:alpha val="20000"/>
            </a:srgbClr>
          </a:solidFill>
          <a:ln w="6350">
            <a:solidFill>
              <a:srgbClr val="00A8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706624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🤕 Headache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3182112"/>
            <a:ext cx="3566160" cy="402336"/>
          </a:xfrm>
          <a:prstGeom prst="roundRect">
            <a:avLst>
              <a:gd name="adj" fmla="val 13636"/>
            </a:avLst>
          </a:prstGeom>
          <a:solidFill>
            <a:srgbClr val="028090">
              <a:alpha val="20000"/>
            </a:srgbClr>
          </a:solidFill>
          <a:ln w="6350">
            <a:solidFill>
              <a:srgbClr val="00A89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3182112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🤢 Nausea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3657600"/>
            <a:ext cx="3566160" cy="402336"/>
          </a:xfrm>
          <a:prstGeom prst="roundRect">
            <a:avLst>
              <a:gd name="adj" fmla="val 13636"/>
            </a:avLst>
          </a:prstGeom>
          <a:solidFill>
            <a:srgbClr val="028090">
              <a:alpha val="20000"/>
            </a:srgbClr>
          </a:solidFill>
          <a:ln w="6350">
            <a:solidFill>
              <a:srgbClr val="00A89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657600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😴 Fatigue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65760" y="4133088"/>
            <a:ext cx="3566160" cy="402336"/>
          </a:xfrm>
          <a:prstGeom prst="roundRect">
            <a:avLst>
              <a:gd name="adj" fmla="val 13636"/>
            </a:avLst>
          </a:prstGeom>
          <a:solidFill>
            <a:srgbClr val="028090">
              <a:alpha val="20000"/>
            </a:srgbClr>
          </a:solidFill>
          <a:ln w="6350">
            <a:solidFill>
              <a:srgbClr val="00A89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4133088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💨 Shortness of Breath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754880" y="129844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Specialist Mapping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754880" y="17830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0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Fever / Fatigue  →  General Practitioner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754880" y="2231136"/>
            <a:ext cx="4023360" cy="0"/>
          </a:xfrm>
          <a:prstGeom prst="line">
            <a:avLst/>
          </a:prstGeom>
          <a:noFill/>
          <a:ln w="6350">
            <a:solidFill>
              <a:srgbClr val="028090">
                <a:alpha val="5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0" y="235000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0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Cough  →  Pulmonologist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754880" y="2798064"/>
            <a:ext cx="4023360" cy="0"/>
          </a:xfrm>
          <a:prstGeom prst="line">
            <a:avLst/>
          </a:prstGeom>
          <a:noFill/>
          <a:ln w="6350">
            <a:solidFill>
              <a:srgbClr val="028090">
                <a:alpha val="5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2916936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0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Headache  →  Neurologist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754880" y="3364992"/>
            <a:ext cx="4023360" cy="0"/>
          </a:xfrm>
          <a:prstGeom prst="line">
            <a:avLst/>
          </a:prstGeom>
          <a:noFill/>
          <a:ln w="6350">
            <a:solidFill>
              <a:srgbClr val="028090">
                <a:alpha val="5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0" y="3483864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0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Nausea  →  Gastroenterologist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754880" y="3931920"/>
            <a:ext cx="4023360" cy="0"/>
          </a:xfrm>
          <a:prstGeom prst="line">
            <a:avLst/>
          </a:prstGeom>
          <a:noFill/>
          <a:ln w="6350">
            <a:solidFill>
              <a:srgbClr val="028090">
                <a:alpha val="5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405079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0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Shortness of Breath  →  Cardiologist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754880" y="4498848"/>
            <a:ext cx="4023360" cy="0"/>
          </a:xfrm>
          <a:prstGeom prst="line">
            <a:avLst/>
          </a:prstGeom>
          <a:noFill/>
          <a:ln w="6350">
            <a:solidFill>
              <a:srgbClr val="028090">
                <a:alpha val="50000"/>
              </a:srgbClr>
            </a:solidFill>
            <a:prstDash val="solid"/>
          </a:ln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21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65760" y="1097280"/>
            <a:ext cx="2743200" cy="1554480"/>
          </a:xfrm>
          <a:prstGeom prst="roundRect">
            <a:avLst>
              <a:gd name="adj" fmla="val 5882"/>
            </a:avLst>
          </a:prstGeom>
          <a:solidFill>
            <a:schemeClr val="bg2"/>
          </a:solidFill>
          <a:ln/>
          <a:effectLst>
            <a:outerShdw blurRad="101600" dist="25400" dir="2700000" algn="bl" rotWithShape="0">
              <a:srgbClr val="000000">
                <a:alpha val="9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02920" y="1234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🐍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97280" y="1225296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97280" y="154533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Language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901952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7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logic, database layer, and business rules all in Python.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46120" y="1097280"/>
            <a:ext cx="2743200" cy="1554480"/>
          </a:xfrm>
          <a:prstGeom prst="roundRect">
            <a:avLst>
              <a:gd name="adj" fmla="val 5882"/>
            </a:avLst>
          </a:prstGeom>
          <a:solidFill>
            <a:schemeClr val="bg2"/>
          </a:solidFill>
          <a:ln/>
          <a:effectLst>
            <a:outerShdw blurRad="101600" dist="25400" dir="2700000" algn="bl" rotWithShape="0">
              <a:srgbClr val="000000">
                <a:alpha val="9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83280" y="1234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🖼️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977640" y="1225296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PyQt5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977640" y="154533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 Framework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383280" y="1901952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7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Widgets, dialogs, layouts, and event handling for the desktop interface.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26480" y="1097280"/>
            <a:ext cx="2743200" cy="1554480"/>
          </a:xfrm>
          <a:prstGeom prst="roundRect">
            <a:avLst>
              <a:gd name="adj" fmla="val 5882"/>
            </a:avLst>
          </a:prstGeom>
          <a:solidFill>
            <a:schemeClr val="bg2"/>
          </a:solidFill>
          <a:ln/>
          <a:effectLst>
            <a:outerShdw blurRad="101600" dist="25400" dir="2700000" algn="bl" rotWithShape="0">
              <a:srgbClr val="000000">
                <a:alpha val="9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263640" y="1234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🗃️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858000" y="1225296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858000" y="154533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263640" y="1901952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7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File-based relational database with no setup — ships with Python.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2880360"/>
            <a:ext cx="2743200" cy="1554480"/>
          </a:xfrm>
          <a:prstGeom prst="roundRect">
            <a:avLst>
              <a:gd name="adj" fmla="val 5882"/>
            </a:avLst>
          </a:prstGeom>
          <a:solidFill>
            <a:schemeClr val="bg2"/>
          </a:solidFill>
          <a:ln/>
          <a:effectLst>
            <a:outerShdw blurRad="101600" dist="25400" dir="2700000" algn="bl" rotWithShape="0">
              <a:srgbClr val="000000">
                <a:alpha val="9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02920" y="3017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🔑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1097280" y="3008376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hashlib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097280" y="332841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2920" y="3685032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7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password hashing built into Python's standard library.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46120" y="2880360"/>
            <a:ext cx="2743200" cy="1554480"/>
          </a:xfrm>
          <a:prstGeom prst="roundRect">
            <a:avLst>
              <a:gd name="adj" fmla="val 5882"/>
            </a:avLst>
          </a:prstGeom>
          <a:solidFill>
            <a:schemeClr val="bg2"/>
          </a:solidFill>
          <a:ln/>
          <a:effectLst>
            <a:outerShdw blurRad="101600" dist="25400" dir="2700000" algn="bl" rotWithShape="0">
              <a:srgbClr val="000000">
                <a:alpha val="9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383280" y="3017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📂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3977640" y="3008376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shutil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3977640" y="332841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Utility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383280" y="3685032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7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operations used for database backup functionality.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134431" y="2880360"/>
            <a:ext cx="2743200" cy="1554480"/>
          </a:xfrm>
          <a:prstGeom prst="roundRect">
            <a:avLst>
              <a:gd name="adj" fmla="val 5882"/>
            </a:avLst>
          </a:prstGeom>
          <a:solidFill>
            <a:schemeClr val="bg2"/>
          </a:solidFill>
          <a:ln/>
          <a:effectLst>
            <a:outerShdw blurRad="101600" dist="25400" dir="2700000" algn="bl" rotWithShape="0">
              <a:srgbClr val="000000">
                <a:alpha val="9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263640" y="3017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📅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6858000" y="3008376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datetime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6858000" y="332841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Handling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263640" y="3685032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7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 management for appointments and billing records.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21B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3200400"/>
            <a:ext cx="3657600" cy="3657600"/>
          </a:xfrm>
          <a:prstGeom prst="ellipse">
            <a:avLst/>
          </a:prstGeom>
          <a:solidFill>
            <a:srgbClr val="02C39A">
              <a:alpha val="15000"/>
            </a:srgbClr>
          </a:solidFill>
          <a:ln w="12700">
            <a:solidFill>
              <a:srgbClr val="02C39A">
                <a:alpha val="1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12014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MedCore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914400" y="19202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Management System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2377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286000" y="3017520"/>
            <a:ext cx="4572000" cy="0"/>
          </a:xfrm>
          <a:prstGeom prst="line">
            <a:avLst/>
          </a:prstGeom>
          <a:noFill/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3200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38404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 dir="r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58</TotalTime>
  <Words>549</Words>
  <Application>Microsoft Office PowerPoint</Application>
  <PresentationFormat>On-screen Show (16:9)</PresentationFormat>
  <Paragraphs>123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MedCore - Medical Management System</dc:title>
  <dc:subject>PptxGenJS Presentation</dc:subject>
  <dc:creator>PptxGenJS</dc:creator>
  <cp:lastModifiedBy>ranaashamiii@gmail.com</cp:lastModifiedBy>
  <cp:revision>3</cp:revision>
  <dcterms:created xsi:type="dcterms:W3CDTF">2026-06-24T02:31:30Z</dcterms:created>
  <dcterms:modified xsi:type="dcterms:W3CDTF">2026-06-23T16:52:22Z</dcterms:modified>
</cp:coreProperties>
</file>